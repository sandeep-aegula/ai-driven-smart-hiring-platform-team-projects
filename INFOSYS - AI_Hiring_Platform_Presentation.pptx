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ndra Shetty" userId="8ec656fc1a2a491f" providerId="LiveId" clId="{13B0C8CF-8EAF-44FB-8BE9-78BD50463DFD}"/>
    <pc:docChg chg="modSld">
      <pc:chgData name="Ravindra Shetty" userId="8ec656fc1a2a491f" providerId="LiveId" clId="{13B0C8CF-8EAF-44FB-8BE9-78BD50463DFD}" dt="2026-08-31T12:19:56.286" v="95" actId="1076"/>
      <pc:docMkLst>
        <pc:docMk/>
      </pc:docMkLst>
      <pc:sldChg chg="modSp mod">
        <pc:chgData name="Ravindra Shetty" userId="8ec656fc1a2a491f" providerId="LiveId" clId="{13B0C8CF-8EAF-44FB-8BE9-78BD50463DFD}" dt="2026-08-31T12:19:56.286" v="95" actId="1076"/>
        <pc:sldMkLst>
          <pc:docMk/>
          <pc:sldMk cId="0" sldId="256"/>
        </pc:sldMkLst>
        <pc:spChg chg="mod">
          <ac:chgData name="Ravindra Shetty" userId="8ec656fc1a2a491f" providerId="LiveId" clId="{13B0C8CF-8EAF-44FB-8BE9-78BD50463DFD}" dt="2026-08-31T12:19:56.286" v="95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vindra Shetty" userId="8ec656fc1a2a491f" providerId="LiveId" clId="{13B0C8CF-8EAF-44FB-8BE9-78BD50463DFD}" dt="2026-08-31T12:19:50.166" v="94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Ravindra Shetty" userId="8ec656fc1a2a491f" providerId="LiveId" clId="{13B0C8CF-8EAF-44FB-8BE9-78BD50463DFD}" dt="2026-08-31T12:14:10.416" v="37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Ravindra Shetty" userId="8ec656fc1a2a491f" providerId="LiveId" clId="{13B0C8CF-8EAF-44FB-8BE9-78BD50463DFD}" dt="2026-08-28T13:04:41.343" v="21" actId="20577"/>
        <pc:sldMkLst>
          <pc:docMk/>
          <pc:sldMk cId="0" sldId="271"/>
        </pc:sldMkLst>
        <pc:spChg chg="mod">
          <ac:chgData name="Ravindra Shetty" userId="8ec656fc1a2a491f" providerId="LiveId" clId="{13B0C8CF-8EAF-44FB-8BE9-78BD50463DFD}" dt="2026-08-28T13:04:41.343" v="21" actId="20577"/>
          <ac:spMkLst>
            <pc:docMk/>
            <pc:sldMk cId="0" sldId="271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78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C4E8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3977640" y="4706431"/>
            <a:ext cx="4754880" cy="475488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885825"/>
            <a:ext cx="8275320" cy="8515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chemeClr val="bg1">
                    <a:lumMod val="95000"/>
                  </a:schemeClr>
                </a:solidFill>
                <a:latin typeface="Bodoni MT Condensed" panose="02070606080606020203" pitchFamily="18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</a:p>
          <a:p>
            <a:pPr marL="0" indent="0">
              <a:buNone/>
            </a:pPr>
            <a:endParaRPr lang="en-US" sz="1600" b="1" kern="0" spc="300" dirty="0">
              <a:solidFill>
                <a:srgbClr val="00C2A8"/>
              </a:solidFill>
              <a:latin typeface="Bodoni MT Condensed" panose="02070606080606020203" pitchFamily="18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b="1" kern="0" spc="300" dirty="0">
              <a:solidFill>
                <a:srgbClr val="00C2A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AI-DRIVEN </a:t>
            </a:r>
            <a:r>
              <a:rPr lang="en-US" sz="14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r>
              <a:rPr lang="en-US" sz="13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Smart Hiring Platform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Candidate</a:t>
            </a:r>
            <a:r>
              <a:rPr lang="en-US" sz="4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Copilot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41248" y="3429000"/>
            <a:ext cx="1005840" cy="41148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End-to-End </a:t>
            </a:r>
            <a:r>
              <a:rPr lang="en-US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r>
              <a:rPr lang="en-US" sz="16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Talent Management 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74459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505434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Aegula Sandeep    •    Janavi C    •    Sujitha AH    •    Lalitha Swaroop Jagu    </a:t>
            </a:r>
            <a:endParaRPr lang="en-US" sz="14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39964CA-D662-2DD3-356D-DC0CDFD22F33}"/>
              </a:ext>
            </a:extLst>
          </p:cNvPr>
          <p:cNvSpPr/>
          <p:nvPr/>
        </p:nvSpPr>
        <p:spPr>
          <a:xfrm>
            <a:off x="822960" y="569785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MENTOR</a:t>
            </a:r>
            <a:endParaRPr lang="en-US" sz="11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764EED1-BAD6-C657-AFE2-677E394F41F7}"/>
              </a:ext>
            </a:extLst>
          </p:cNvPr>
          <p:cNvSpPr/>
          <p:nvPr/>
        </p:nvSpPr>
        <p:spPr>
          <a:xfrm>
            <a:off x="777240" y="6086094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Rojar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6309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HR platform designed to simplify and automate major activities involved in recruitment and talent management.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together job creation, candidate applications, resume processing, AI-based screening, interviews, onboarding and employee management within a unified platform.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candidate information, matches applicants with job requirements, and generates recommendations to assist recruiters.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Human-in-the-Loop approach — AI provides insights and recommendations while final recruitment decisions remain with HR.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23760" y="1600200"/>
            <a:ext cx="4434840" cy="4572000"/>
          </a:xfrm>
          <a:prstGeom prst="roundRect">
            <a:avLst>
              <a:gd name="adj" fmla="val 2474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43800" y="18745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LIFECYCLE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43800" y="2468880"/>
            <a:ext cx="502920" cy="502920"/>
          </a:xfrm>
          <a:prstGeom prst="ellipse">
            <a:avLst/>
          </a:prstGeom>
          <a:solidFill>
            <a:srgbClr val="1A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54380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0" y="245059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08392" y="2926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43800" y="3502152"/>
            <a:ext cx="502920" cy="502920"/>
          </a:xfrm>
          <a:prstGeom prst="ellipse">
            <a:avLst/>
          </a:prstGeom>
          <a:solidFill>
            <a:srgbClr val="1A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543800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48386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08392" y="39593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43800" y="4535424"/>
            <a:ext cx="502920" cy="502920"/>
          </a:xfrm>
          <a:prstGeom prst="ellipse">
            <a:avLst/>
          </a:prstGeom>
          <a:solidFill>
            <a:srgbClr val="1A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543800" y="4535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451713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08392" y="49926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43800" y="5568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0" y="55504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6309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often process large volumes of resumes manually, making candidate screening time-consuming and difficult to manage efficiently.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information, interview schedules, feedback and recruitment records are spread across different tools, causing fragmented information and added administrative effort.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processes make it difficult to consistently compare candidates against job-specific requirements and identify strengths and skill gaps.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system is needed to automate repetitive recruitment activities while providing HR with structured, data-driven decision support.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5317236" cy="1234440"/>
          </a:xfrm>
          <a:prstGeom prst="roundRect">
            <a:avLst>
              <a:gd name="adj" fmla="val 7407"/>
            </a:avLst>
          </a:prstGeom>
          <a:solidFill>
            <a:srgbClr val="EDF2F8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5029200"/>
            <a:ext cx="48600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PROCESS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5349240"/>
            <a:ext cx="48600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→ Spreadsheets → Emails → Interviews → Documents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65876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23076" y="4892040"/>
            <a:ext cx="5317236" cy="1234440"/>
          </a:xfrm>
          <a:prstGeom prst="roundRect">
            <a:avLst>
              <a:gd name="adj" fmla="val 7407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51676" y="5029200"/>
            <a:ext cx="48600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PROCESS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51676" y="5349240"/>
            <a:ext cx="48600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AI-Assisted Platform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04672" y="173736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6642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the Hiring Journey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048256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AI-assisted platform spanning candidate application and resume screening through interviews and onboarding.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481328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11112" y="173736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11112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16642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Data-Driven Screening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69480" y="2048256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 and structure candidate information, evaluate candidates against job requirements, and provide ATS-based recommendations.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04672" y="338328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04672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3101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Recruiters End-to-End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694176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HR with interview preparation, candidate screening, recruitment analytics and communication — reducing repetitive manual work.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3127248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611112" y="338328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611112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69480" y="33101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Hiring to Talent Growth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69480" y="3694176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recruitment activities with employee and talent management, creating a continuous workflow from selection to development.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18888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81888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HR — AI does not replace HR.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centralized recruitment and talent management environment where HR can create job openings, manage candidates, evaluate applications and conduct interviews — all in one platform.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candidate applies, the system processes the resume, extracts relevant information and compares the profile with the requirements of the selected job.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ATS score, candidate ranking, skill-gap information and AI recommendations help recruiters identify suitable candidates more efficiently.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 candidates proceed through interview and onboarding; successful candidates are then maintained as employees within the talent management system.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1380744" cy="914400"/>
          </a:xfrm>
          <a:prstGeom prst="roundRect">
            <a:avLst>
              <a:gd name="adj" fmla="val 6000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4343400"/>
            <a:ext cx="1289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Opening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9384" y="4315968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67128" y="4343400"/>
            <a:ext cx="1380744" cy="914400"/>
          </a:xfrm>
          <a:prstGeom prst="roundRect">
            <a:avLst>
              <a:gd name="adj" fmla="val 6000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12848" y="4343400"/>
            <a:ext cx="1289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47872" y="4315968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85616" y="4343400"/>
            <a:ext cx="1380744" cy="914400"/>
          </a:xfrm>
          <a:prstGeom prst="roundRect">
            <a:avLst>
              <a:gd name="adj" fmla="val 6000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31336" y="4343400"/>
            <a:ext cx="1289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4315968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04104" y="4343400"/>
            <a:ext cx="1380744" cy="914400"/>
          </a:xfrm>
          <a:prstGeom prst="roundRect">
            <a:avLst>
              <a:gd name="adj" fmla="val 6000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49824" y="4343400"/>
            <a:ext cx="1289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84848" y="4315968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22592" y="4343400"/>
            <a:ext cx="1380744" cy="914400"/>
          </a:xfrm>
          <a:prstGeom prst="roundRect">
            <a:avLst>
              <a:gd name="adj" fmla="val 6000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068312" y="4343400"/>
            <a:ext cx="1289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03336" y="4315968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41080" y="4343400"/>
            <a:ext cx="1380744" cy="914400"/>
          </a:xfrm>
          <a:prstGeom prst="roundRect">
            <a:avLst>
              <a:gd name="adj" fmla="val 6000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686800" y="4343400"/>
            <a:ext cx="1289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21824" y="4315968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305288" y="4343400"/>
            <a:ext cx="1289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layered architecture: user interface, application/backend services, AI processing components, database and supporting utilities.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provides recruitment and HR interfaces; backend services manage business logic, candidate processing, interviews, employee information and communication workflows.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supports resume parsing, ATS evaluation, candidate recommendations, interview assistance and employee insights.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1A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654296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1C4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465429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Backend Services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48072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514807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Layer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641848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1A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564184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6135624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1C4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613562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Utilities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508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847088"/>
            <a:ext cx="2560320" cy="896112"/>
          </a:xfrm>
          <a:prstGeom prst="roundRect">
            <a:avLst>
              <a:gd name="adj" fmla="val 9184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3680" y="19751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22677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HTML/CSS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98280" y="1847088"/>
            <a:ext cx="2560320" cy="896112"/>
          </a:xfrm>
          <a:prstGeom prst="roundRect">
            <a:avLst>
              <a:gd name="adj" fmla="val 9184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326880" y="19751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6880" y="22677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2926080"/>
            <a:ext cx="2560320" cy="896112"/>
          </a:xfrm>
          <a:prstGeom prst="roundRect">
            <a:avLst>
              <a:gd name="adj" fmla="val 9184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83680" y="30540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0" y="334670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SQLAlchemy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98280" y="2926080"/>
            <a:ext cx="2560320" cy="896112"/>
          </a:xfrm>
          <a:prstGeom prst="roundRect">
            <a:avLst>
              <a:gd name="adj" fmla="val 9184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326880" y="30540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Processing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26880" y="334670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Services, PDF/DOCX Processing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4005072"/>
            <a:ext cx="2560320" cy="896112"/>
          </a:xfrm>
          <a:prstGeom prst="roundRect">
            <a:avLst>
              <a:gd name="adj" fmla="val 9184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83680" y="4133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0" y="442569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98280" y="4005072"/>
            <a:ext cx="2560320" cy="896112"/>
          </a:xfrm>
          <a:prstGeom prst="roundRect">
            <a:avLst>
              <a:gd name="adj" fmla="val 9184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326880" y="4133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326880" y="442569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Parsing &amp; Candidate Profiling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8056" y="1485900"/>
            <a:ext cx="4206240" cy="4617720"/>
          </a:xfrm>
          <a:prstGeom prst="roundRect">
            <a:avLst>
              <a:gd name="adj" fmla="val 2609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194560" y="2880360"/>
            <a:ext cx="914400" cy="91440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194560" y="2880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⇧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 •  DOCX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5532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74920" y="1600200"/>
            <a:ext cx="6583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can be uploaded in supported formats such as PDF and DOCX and are processed automatically.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extracts key candidate information including education, skills, certifications, projects, professional experience and contact details.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information is converted into a structured candidate profile used for screening, matching and ranking — without requiring recruiters to manually review every detail.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74920" y="470916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74920" y="47091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FLOW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74920" y="5257800"/>
            <a:ext cx="1467612" cy="777240"/>
          </a:xfrm>
          <a:prstGeom prst="roundRect">
            <a:avLst>
              <a:gd name="adj" fmla="val 7059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0" y="5257800"/>
            <a:ext cx="13761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42532" y="5230368"/>
            <a:ext cx="237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80276" y="5257800"/>
            <a:ext cx="1467612" cy="777240"/>
          </a:xfrm>
          <a:prstGeom prst="roundRect">
            <a:avLst>
              <a:gd name="adj" fmla="val 7059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25996" y="5257800"/>
            <a:ext cx="13761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47888" y="5230368"/>
            <a:ext cx="237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85632" y="5257800"/>
            <a:ext cx="1467612" cy="777240"/>
          </a:xfrm>
          <a:prstGeom prst="roundRect">
            <a:avLst>
              <a:gd name="adj" fmla="val 7059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531352" y="5257800"/>
            <a:ext cx="13761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53244" y="5230368"/>
            <a:ext cx="237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190988" y="5257800"/>
            <a:ext cx="1467612" cy="777240"/>
          </a:xfrm>
          <a:prstGeom prst="roundRect">
            <a:avLst>
              <a:gd name="adj" fmla="val 7059"/>
            </a:avLst>
          </a:prstGeom>
          <a:solidFill>
            <a:srgbClr val="00C2A8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236708" y="5257800"/>
            <a:ext cx="13761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Description Analysis &amp; Candidate Matching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2606040"/>
          </a:xfrm>
          <a:prstGeom prst="roundRect">
            <a:avLst>
              <a:gd name="adj" fmla="val 4211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1920240"/>
            <a:ext cx="4709160" cy="457200"/>
          </a:xfrm>
          <a:prstGeom prst="roundRect">
            <a:avLst>
              <a:gd name="adj" fmla="val 16000"/>
            </a:avLst>
          </a:prstGeom>
          <a:solidFill>
            <a:srgbClr val="1C4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processes the job description to identify the required skills, qualifications, experience level, responsibilities and other role-specific requirements.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91072" y="1600200"/>
            <a:ext cx="5349240" cy="2606040"/>
          </a:xfrm>
          <a:prstGeom prst="roundRect">
            <a:avLst>
              <a:gd name="adj" fmla="val 4211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11112" y="1920240"/>
            <a:ext cx="4709160" cy="457200"/>
          </a:xfrm>
          <a:prstGeom prst="roundRect">
            <a:avLst>
              <a:gd name="adj" fmla="val 16000"/>
            </a:avLst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11112" y="19202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56832" y="2560320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extracted candidate information is compared against these requirements to determine how closely the applicant matches the selected position.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engine combines candidate and job information to generate a job-specific compatibility score, allowing recruiters to evaluate candidates according to the actual requirements of each role.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3538728" cy="777240"/>
          </a:xfrm>
          <a:prstGeom prst="roundRect">
            <a:avLst>
              <a:gd name="adj" fmla="val 7059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5257800"/>
            <a:ext cx="3447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87368" y="5230368"/>
            <a:ext cx="237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25112" y="5257800"/>
            <a:ext cx="3538728" cy="777240"/>
          </a:xfrm>
          <a:prstGeom prst="roundRect">
            <a:avLst>
              <a:gd name="adj" fmla="val 7059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370832" y="5257800"/>
            <a:ext cx="3447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863840" y="5230368"/>
            <a:ext cx="237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01584" y="5257800"/>
            <a:ext cx="3538728" cy="777240"/>
          </a:xfrm>
          <a:prstGeom prst="roundRect">
            <a:avLst>
              <a:gd name="adj" fmla="val 7059"/>
            </a:avLst>
          </a:prstGeom>
          <a:solidFill>
            <a:srgbClr val="00C2A8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147304" y="5257800"/>
            <a:ext cx="3447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CANDIDATE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Scoring, Ranking &amp; Skill Gap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88820" y="1865376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988820" y="18653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6700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081528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 ATS score by evaluating skills, experience, education, certifications, projects and relevance to the job requirements.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4256" y="1572768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774436" y="1865376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74436" y="18653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62856" y="26700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Ranking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8576" y="3081528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are ranked according to compatibility scores, helping recruiters quickly identify applicants most aligned with the position.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19872" y="1572768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560052" y="1865376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560052" y="18653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48472" y="26700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94192" y="3081528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skills that are missing or insufficient compared with job requirements, alongside candidate strengths and areas for improvement.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2560320" cy="329184"/>
          </a:xfrm>
          <a:prstGeom prst="roundRect">
            <a:avLst>
              <a:gd name="adj" fmla="val 16667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PIPELINE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650492" cy="777240"/>
          </a:xfrm>
          <a:prstGeom prst="roundRect">
            <a:avLst>
              <a:gd name="adj" fmla="val 7059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4360" y="5166360"/>
            <a:ext cx="15590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9132" y="5138928"/>
            <a:ext cx="237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436876" y="5166360"/>
            <a:ext cx="1650492" cy="777240"/>
          </a:xfrm>
          <a:prstGeom prst="roundRect">
            <a:avLst>
              <a:gd name="adj" fmla="val 7059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482596" y="5166360"/>
            <a:ext cx="15590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87368" y="5138928"/>
            <a:ext cx="237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325112" y="5166360"/>
            <a:ext cx="1650492" cy="777240"/>
          </a:xfrm>
          <a:prstGeom prst="roundRect">
            <a:avLst>
              <a:gd name="adj" fmla="val 7059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370832" y="5166360"/>
            <a:ext cx="15590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75604" y="5138928"/>
            <a:ext cx="237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13348" y="5166360"/>
            <a:ext cx="1650492" cy="777240"/>
          </a:xfrm>
          <a:prstGeom prst="roundRect">
            <a:avLst>
              <a:gd name="adj" fmla="val 7059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59068" y="5166360"/>
            <a:ext cx="15590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0" y="5138928"/>
            <a:ext cx="237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101584" y="5166360"/>
            <a:ext cx="1650492" cy="777240"/>
          </a:xfrm>
          <a:prstGeom prst="roundRect">
            <a:avLst>
              <a:gd name="adj" fmla="val 7059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147304" y="5166360"/>
            <a:ext cx="15590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52076" y="5138928"/>
            <a:ext cx="237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989820" y="5166360"/>
            <a:ext cx="1650492" cy="777240"/>
          </a:xfrm>
          <a:prstGeom prst="roundRect">
            <a:avLst>
              <a:gd name="adj" fmla="val 7059"/>
            </a:avLst>
          </a:prstGeom>
          <a:solidFill>
            <a:srgbClr val="00C2A8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0035540" y="5166360"/>
            <a:ext cx="15590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Assistance &amp; AI Screening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206240" cy="4617720"/>
          </a:xfrm>
          <a:prstGeom prst="roundRect">
            <a:avLst>
              <a:gd name="adj" fmla="val 2609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194560" y="2880360"/>
            <a:ext cx="914400" cy="91440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194560" y="2880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Assistant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AI Screening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5532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74920" y="1600200"/>
            <a:ext cx="6583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Generator creates customized questions based on the selected job position and question type — technical, behavioral and scenario-based.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Simulation provides an interactive experience where the AI interviewer asks questions and continues the conversation based on candidate responses.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Screening supports recorded candidate responses and provides a preliminary assessment of communication and technical readiness before the candidate proceeds further.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74920" y="470916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74920" y="47091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FLOW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74920" y="5257800"/>
            <a:ext cx="1467612" cy="777240"/>
          </a:xfrm>
          <a:prstGeom prst="roundRect">
            <a:avLst>
              <a:gd name="adj" fmla="val 7059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0" y="5257800"/>
            <a:ext cx="13761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42532" y="5230368"/>
            <a:ext cx="237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80276" y="5257800"/>
            <a:ext cx="1467612" cy="777240"/>
          </a:xfrm>
          <a:prstGeom prst="roundRect">
            <a:avLst>
              <a:gd name="adj" fmla="val 7059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25996" y="5257800"/>
            <a:ext cx="13761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47888" y="5230368"/>
            <a:ext cx="237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85632" y="5257800"/>
            <a:ext cx="1467612" cy="777240"/>
          </a:xfrm>
          <a:prstGeom prst="roundRect">
            <a:avLst>
              <a:gd name="adj" fmla="val 7059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531352" y="5257800"/>
            <a:ext cx="13761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53244" y="5230368"/>
            <a:ext cx="237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190988" y="5257800"/>
            <a:ext cx="1467612" cy="777240"/>
          </a:xfrm>
          <a:prstGeom prst="roundRect">
            <a:avLst>
              <a:gd name="adj" fmla="val 7059"/>
            </a:avLst>
          </a:prstGeom>
          <a:solidFill>
            <a:srgbClr val="00C2A8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236708" y="5257800"/>
            <a:ext cx="13761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Dashboard &amp;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16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centralized view of candidates, active job openings, scheduled interviews and overall recruitment performance.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recruitment pipeline visualizes candidate movement through stages such as Applied, Screened, Interviewed, Offered and Hired.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give recruiters a quick, at-a-glance overview of recruitment performance.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PIPELINE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2028139" cy="594360"/>
          </a:xfrm>
          <a:prstGeom prst="roundRect">
            <a:avLst>
              <a:gd name="adj" fmla="val 9231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3794760"/>
            <a:ext cx="193669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76779" y="3767328"/>
            <a:ext cx="237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14523" y="3794760"/>
            <a:ext cx="2028139" cy="594360"/>
          </a:xfrm>
          <a:prstGeom prst="roundRect">
            <a:avLst>
              <a:gd name="adj" fmla="val 9231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60243" y="3794760"/>
            <a:ext cx="193669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2662" y="3767328"/>
            <a:ext cx="237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80406" y="3794760"/>
            <a:ext cx="2028139" cy="594360"/>
          </a:xfrm>
          <a:prstGeom prst="roundRect">
            <a:avLst>
              <a:gd name="adj" fmla="val 9231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6126" y="3794760"/>
            <a:ext cx="193669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08546" y="3767328"/>
            <a:ext cx="237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46290" y="3794760"/>
            <a:ext cx="2028139" cy="594360"/>
          </a:xfrm>
          <a:prstGeom prst="roundRect">
            <a:avLst>
              <a:gd name="adj" fmla="val 9231"/>
            </a:avLst>
          </a:prstGeom>
          <a:solidFill>
            <a:srgbClr val="1A2A52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92010" y="3794760"/>
            <a:ext cx="193669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74429" y="3767328"/>
            <a:ext cx="237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612173" y="3794760"/>
            <a:ext cx="2028139" cy="594360"/>
          </a:xfrm>
          <a:prstGeom prst="roundRect">
            <a:avLst>
              <a:gd name="adj" fmla="val 9231"/>
            </a:avLst>
          </a:prstGeom>
          <a:solidFill>
            <a:srgbClr val="00C2A8"/>
          </a:solidFill>
          <a:ln/>
          <a:effectLst>
            <a:outerShdw blurRad="635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657893" y="3794760"/>
            <a:ext cx="193669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77240" y="4965192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∑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4709160"/>
            <a:ext cx="1554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74136" y="47091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02736" y="4965192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02736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◷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242816" y="4709160"/>
            <a:ext cx="1554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99632" y="47091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428232" y="4965192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28232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68312" y="4709160"/>
            <a:ext cx="1554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025128" y="47091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253728" y="4965192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253728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893808" y="4709160"/>
            <a:ext cx="1554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Time-to-Hire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Recruitment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680972" cy="868680"/>
          </a:xfrm>
          <a:prstGeom prst="roundRect">
            <a:avLst>
              <a:gd name="adj" fmla="val 8421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" y="1856232"/>
            <a:ext cx="15712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Login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30780" y="1600200"/>
            <a:ext cx="1680972" cy="868680"/>
          </a:xfrm>
          <a:prstGeom prst="roundRect">
            <a:avLst>
              <a:gd name="adj" fmla="val 8421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03932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85644" y="1856232"/>
            <a:ext cx="15712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2920" y="1600200"/>
            <a:ext cx="1680972" cy="868680"/>
          </a:xfrm>
          <a:prstGeom prst="roundRect">
            <a:avLst>
              <a:gd name="adj" fmla="val 8421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86072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67784" y="1856232"/>
            <a:ext cx="15712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5060" y="1600200"/>
            <a:ext cx="1680972" cy="868680"/>
          </a:xfrm>
          <a:prstGeom prst="roundRect">
            <a:avLst>
              <a:gd name="adj" fmla="val 8421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68212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49924" y="1856232"/>
            <a:ext cx="15712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77200" y="1600200"/>
            <a:ext cx="1680972" cy="868680"/>
          </a:xfrm>
          <a:prstGeom prst="roundRect">
            <a:avLst>
              <a:gd name="adj" fmla="val 8421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150352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32064" y="1856232"/>
            <a:ext cx="15712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959340" y="1600200"/>
            <a:ext cx="1680972" cy="868680"/>
          </a:xfrm>
          <a:prstGeom prst="roundRect">
            <a:avLst>
              <a:gd name="adj" fmla="val 8421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032492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14204" y="1856232"/>
            <a:ext cx="15712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29612" y="186994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1752" y="186994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93892" y="186994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76032" y="186994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58172" y="186994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0098" y="246888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430780" y="3154680"/>
            <a:ext cx="1680972" cy="868680"/>
          </a:xfrm>
          <a:prstGeom prst="roundRect">
            <a:avLst>
              <a:gd name="adj" fmla="val 8421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503932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85644" y="3410712"/>
            <a:ext cx="15712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12920" y="3154680"/>
            <a:ext cx="1680972" cy="868680"/>
          </a:xfrm>
          <a:prstGeom prst="roundRect">
            <a:avLst>
              <a:gd name="adj" fmla="val 8421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386072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67784" y="3410712"/>
            <a:ext cx="15712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95060" y="3154680"/>
            <a:ext cx="1680972" cy="868680"/>
          </a:xfrm>
          <a:prstGeom prst="roundRect">
            <a:avLst>
              <a:gd name="adj" fmla="val 8421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68212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49924" y="3410712"/>
            <a:ext cx="15712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77200" y="3154680"/>
            <a:ext cx="1680972" cy="868680"/>
          </a:xfrm>
          <a:prstGeom prst="roundRect">
            <a:avLst>
              <a:gd name="adj" fmla="val 8421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150352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32064" y="3410712"/>
            <a:ext cx="15712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959340" y="3154680"/>
            <a:ext cx="1680972" cy="868680"/>
          </a:xfrm>
          <a:prstGeom prst="roundRect">
            <a:avLst>
              <a:gd name="adj" fmla="val 8421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10032492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14204" y="3410712"/>
            <a:ext cx="15712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Shortlisting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111752" y="342442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993892" y="342442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876032" y="342442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758172" y="342442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61722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maintains candidate information throughout the recruitment lifecycle and allows successful candidates to transition into employee records after onboarding.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Database, Security &amp; AI Copilot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1865376"/>
            <a:ext cx="502920" cy="502920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865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865376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Security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578608"/>
            <a:ext cx="4709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centralized database stores information related to HR users, job postings, candidates, applications, resumes, ATS evaluations, interviews, onboarding and employee records.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role-based access control ensure HR users access functions according to their assigned responsibilities.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designed to protect sensitive information such as passwords, credentials and internal configuration from unauthorized access or exposure through AI services.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91072" y="1572768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11112" y="1865376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11112" y="1865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96912" y="1865376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1112" y="2578608"/>
            <a:ext cx="4709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an internal assistant that helps HR users retrieve and understand information related to candidates, jobs, interviews, employees and recruitment analytics.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use relevant project data as context rather than directly exposing the complete database to the language model.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709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required for resume screening, candidate comparison and interview preparation by automating repetitive activities.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Job-specific ATS scoring and candidate ranking provide structured information for faster, more consistent evaluation.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centralized dashboard improves visibility across the recruitment pipeline with analytics for monitoring performance.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recruitment, onboarding and employee management, allowing information to continue across the employee lifecycle.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91072" y="1572768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611112" y="184708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11112" y="2286000"/>
            <a:ext cx="4709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to forecast recruitment trends, hiring delays and workforce requirements.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and development recommendations based on employee skill gaps and career goals.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HR services such as payslip management, resignation processing, employment history and career development.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talent analytics to support employee performance tracking, internal mobility and workforce planning.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377440"/>
            <a:ext cx="5029200" cy="5029200"/>
          </a:xfrm>
          <a:prstGeom prst="ellipse">
            <a:avLst/>
          </a:prstGeom>
          <a:solidFill>
            <a:srgbClr val="1C4E80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It All Together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332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integrated approach to modern recruitment by combining resume processing, job matching, ATS evaluation, candidate ranking, interview assistance, recruitment analytics and employee management.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AI can reduce repetitive HR activities and provide structured insights that support faster and more informed recruitment decisions.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workflow from recruitment to onboarding— a broader HR lifecycle solution, not just a resume screening tool.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Human-in-the-Loop approach ensures AI supports HR decision-making while final hiring and employee-related decisions remain under human control.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840480"/>
            <a:ext cx="5486400" cy="5486400"/>
          </a:xfrm>
          <a:prstGeom prst="ellipse">
            <a:avLst/>
          </a:prstGeom>
          <a:solidFill>
            <a:srgbClr val="1C4E8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286000" y="-2743200"/>
            <a:ext cx="5029200" cy="502920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0" y="24231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545836" y="3520440"/>
            <a:ext cx="1097280" cy="41148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Aegula Sandeep    •    Janavi C    •    Sujitha AH    •    Lalitha Swaroop Jagu    •    Rishu Kumar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1516</Words>
  <Application>Microsoft Office PowerPoint</Application>
  <PresentationFormat>Custom</PresentationFormat>
  <Paragraphs>304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Bodoni MT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Ravindra Shetty</cp:lastModifiedBy>
  <cp:revision>3</cp:revision>
  <dcterms:created xsi:type="dcterms:W3CDTF">2026-08-16T06:21:02Z</dcterms:created>
  <dcterms:modified xsi:type="dcterms:W3CDTF">2026-08-31T12:20:07Z</dcterms:modified>
</cp:coreProperties>
</file>